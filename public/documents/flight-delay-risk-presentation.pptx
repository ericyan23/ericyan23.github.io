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" cy="6858000"/>
          </a:xfrm>
          <a:prstGeom prst="rect">
            <a:avLst/>
          </a:prstGeom>
          <a:solidFill>
            <a:srgbClr val="217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10698480" cy="36576"/>
          </a:xfrm>
          <a:prstGeom prst="rect">
            <a:avLst/>
          </a:prstGeom>
          <a:solidFill>
            <a:srgbClr val="217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4617720"/>
            <a:ext cx="10698480" cy="22860"/>
          </a:xfrm>
          <a:prstGeom prst="rect">
            <a:avLst/>
          </a:prstGeom>
          <a:solidFill>
            <a:srgbClr val="3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241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U.S. Flight Delay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7180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A8C8F0"/>
                </a:solidFill>
              </a:rPr>
              <a:t>and Airport Risk Segmentation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098C8"/>
                </a:solidFill>
              </a:rPr>
              <a:t>Modern Data Mining  ·  Spring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4709160"/>
            <a:ext cx="10058400" cy="475488"/>
          </a:xfrm>
          <a:prstGeom prst="roundRect">
            <a:avLst>
              <a:gd name="adj" fmla="val 8000"/>
            </a:avLst>
          </a:prstGeom>
          <a:solidFill>
            <a:srgbClr val="1A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754880"/>
            <a:ext cx="9692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D0FF"/>
                </a:solidFill>
              </a:rPr>
              <a:t>Prediction:  Can pre-departure features forecast arrival delay ≥ 15 min?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5276088"/>
            <a:ext cx="10058400" cy="475488"/>
          </a:xfrm>
          <a:prstGeom prst="roundRect">
            <a:avLst>
              <a:gd name="adj" fmla="val 8000"/>
            </a:avLst>
          </a:prstGeom>
          <a:solidFill>
            <a:srgbClr val="0E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5321808"/>
            <a:ext cx="9692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E8D0"/>
                </a:solidFill>
              </a:rPr>
              <a:t>Segmentation:  Do airports cluster into meaningful delay-risk groups?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80644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8C8F0"/>
                </a:solidFill>
              </a:rPr>
              <a:t>Yiting Li  ·  Sihan Yan  ·  Junyang Wang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217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Research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9921240" y="164592"/>
            <a:ext cx="1920240" cy="566928"/>
          </a:xfrm>
          <a:prstGeom prst="roundRect">
            <a:avLst>
              <a:gd name="adj" fmla="val 50000"/>
            </a:avLst>
          </a:prstGeom>
          <a:solidFill>
            <a:srgbClr val="217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Section 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349240" cy="4617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5349240" cy="402336"/>
          </a:xfrm>
          <a:prstGeom prst="roundRect">
            <a:avLst>
              <a:gd name="adj" fmla="val 10000"/>
            </a:avLst>
          </a:prstGeom>
          <a:solidFill>
            <a:srgbClr val="217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FFFFFF"/>
                </a:solidFill>
              </a:rPr>
              <a:t>  Predictive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09343"/>
            <a:ext cx="5074920" cy="4050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200"/>
              </a:spcBef>
            </a:pPr>
            <a:r>
              <a:rPr sz="1300" b="0" i="0">
                <a:solidFill>
                  <a:srgbClr val="1A1F36"/>
                </a:solidFill>
              </a:rPr>
              <a:t>Can we predict whether a 2019 U.S. domestic flight will arrive ≥ 15 minutes late using only information available before departure?</a:t>
            </a:r>
          </a:p>
          <a:p>
            <a:pPr algn="l">
              <a:lnSpc>
                <a:spcPts val="1600"/>
              </a:lnSpc>
              <a:spcBef>
                <a:spcPts val="200"/>
              </a:spcBef>
            </a:pPr>
            <a:r>
              <a:rPr sz="1300" b="0" i="0">
                <a:solidFill>
                  <a:srgbClr val="1A1F36"/>
                </a:solidFill>
              </a:rPr>
              <a:t/>
            </a:r>
          </a:p>
          <a:p>
            <a:pPr algn="l">
              <a:lnSpc>
                <a:spcPts val="1600"/>
              </a:lnSpc>
              <a:spcBef>
                <a:spcPts val="200"/>
              </a:spcBef>
            </a:pPr>
            <a:r>
              <a:rPr sz="1300" b="0" i="0">
                <a:solidFill>
                  <a:srgbClr val="1A1F36"/>
                </a:solidFill>
              </a:rPr>
              <a:t>▸  Target: ArrDel15 (binary — delayed / not delayed)</a:t>
            </a:r>
          </a:p>
          <a:p>
            <a:pPr algn="l">
              <a:lnSpc>
                <a:spcPts val="1600"/>
              </a:lnSpc>
              <a:spcBef>
                <a:spcPts val="200"/>
              </a:spcBef>
            </a:pPr>
            <a:r>
              <a:rPr sz="1300" b="0" i="0">
                <a:solidFill>
                  <a:srgbClr val="1A1F36"/>
                </a:solidFill>
              </a:rPr>
              <a:t>▸  Methods: LASSO Logistic Regression, Random Forest, Extra Trees</a:t>
            </a:r>
          </a:p>
          <a:p>
            <a:pPr algn="l">
              <a:lnSpc>
                <a:spcPts val="1600"/>
              </a:lnSpc>
              <a:spcBef>
                <a:spcPts val="200"/>
              </a:spcBef>
            </a:pPr>
            <a:r>
              <a:rPr sz="1300" b="0" i="0">
                <a:solidFill>
                  <a:srgbClr val="1A1F36"/>
                </a:solidFill>
              </a:rPr>
              <a:t>▸  Evaluation: ROC AUC, PR AUC, top-decile lift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82512" y="1097280"/>
            <a:ext cx="5349240" cy="4617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82512" y="1097280"/>
            <a:ext cx="5349240" cy="402336"/>
          </a:xfrm>
          <a:prstGeom prst="roundRect">
            <a:avLst>
              <a:gd name="adj" fmla="val 10000"/>
            </a:avLst>
          </a:prstGeom>
          <a:solidFill>
            <a:srgbClr val="1A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FFFFFF"/>
                </a:solidFill>
              </a:rPr>
              <a:t>  Segmentation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1609343"/>
            <a:ext cx="5074920" cy="4050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200"/>
              </a:spcBef>
            </a:pPr>
            <a:r>
              <a:rPr sz="1300" b="0" i="0">
                <a:solidFill>
                  <a:srgbClr val="1A1F36"/>
                </a:solidFill>
              </a:rPr>
              <a:t>Do U.S. airports fall into meaningful delay-risk segments when summarized by their operating profiles?</a:t>
            </a:r>
          </a:p>
          <a:p>
            <a:pPr algn="l">
              <a:lnSpc>
                <a:spcPts val="1600"/>
              </a:lnSpc>
              <a:spcBef>
                <a:spcPts val="200"/>
              </a:spcBef>
            </a:pPr>
            <a:r>
              <a:rPr sz="1300" b="0" i="0">
                <a:solidFill>
                  <a:srgbClr val="1A1F36"/>
                </a:solidFill>
              </a:rPr>
              <a:t/>
            </a:r>
          </a:p>
          <a:p>
            <a:pPr algn="l">
              <a:lnSpc>
                <a:spcPts val="1600"/>
              </a:lnSpc>
              <a:spcBef>
                <a:spcPts val="200"/>
              </a:spcBef>
            </a:pPr>
            <a:r>
              <a:rPr sz="1300" b="0" i="0">
                <a:solidFill>
                  <a:srgbClr val="1A1F36"/>
                </a:solidFill>
              </a:rPr>
              <a:t>▸  Unit of analysis: airport-level aggregates</a:t>
            </a:r>
          </a:p>
          <a:p>
            <a:pPr algn="l">
              <a:lnSpc>
                <a:spcPts val="1600"/>
              </a:lnSpc>
              <a:spcBef>
                <a:spcPts val="200"/>
              </a:spcBef>
            </a:pPr>
            <a:r>
              <a:rPr sz="1300" b="0" i="0">
                <a:solidFill>
                  <a:srgbClr val="1A1F36"/>
                </a:solidFill>
              </a:rPr>
              <a:t>▸  Method: K-means clustering  (k = 3)</a:t>
            </a:r>
          </a:p>
          <a:p>
            <a:pPr algn="l">
              <a:lnSpc>
                <a:spcPts val="1600"/>
              </a:lnSpc>
              <a:spcBef>
                <a:spcPts val="200"/>
              </a:spcBef>
            </a:pPr>
            <a:r>
              <a:rPr sz="1300" b="0" i="0">
                <a:solidFill>
                  <a:srgbClr val="1A1F36"/>
                </a:solidFill>
              </a:rPr>
              <a:t>▸  Goal: interpretable operational groups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217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071616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Key insight:  Two linked questions: individual-flight risk and broader system 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217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Data Source and Preprocessing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921240" y="164592"/>
            <a:ext cx="1920240" cy="566928"/>
          </a:xfrm>
          <a:prstGeom prst="roundRect">
            <a:avLst>
              <a:gd name="adj" fmla="val 50000"/>
            </a:avLst>
          </a:prstGeom>
          <a:solidFill>
            <a:srgbClr val="217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Section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6492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900"/>
              </a:spcBef>
            </a:pPr>
            <a:r>
              <a:rPr sz="1400">
                <a:solidFill>
                  <a:srgbClr val="1A1F36"/>
                </a:solidFill>
              </a:rPr>
              <a:t>▸  2019 U.S. domestic flights — BTS Marketing Carrier On-Time Performance database (Kaggle).</a:t>
            </a:r>
          </a:p>
          <a:p>
            <a:pPr>
              <a:lnSpc>
                <a:spcPts val="2000"/>
              </a:lnSpc>
              <a:spcBef>
                <a:spcPts val="900"/>
              </a:spcBef>
            </a:pPr>
            <a:r>
              <a:rPr sz="1400">
                <a:solidFill>
                  <a:srgbClr val="1A1F36"/>
                </a:solidFill>
              </a:rPr>
              <a:t>▸  Only variables known before departure are retained as predictors.</a:t>
            </a:r>
          </a:p>
          <a:p>
            <a:pPr>
              <a:lnSpc>
                <a:spcPts val="2000"/>
              </a:lnSpc>
              <a:spcBef>
                <a:spcPts val="900"/>
              </a:spcBef>
            </a:pPr>
            <a:r>
              <a:rPr sz="1400">
                <a:solidFill>
                  <a:srgbClr val="1A1F36"/>
                </a:solidFill>
              </a:rPr>
              <a:t>▸  Carrier · Origin · Destination · Month · Day-of-month · Departure block · Elapsed time · Distance</a:t>
            </a:r>
          </a:p>
          <a:p>
            <a:pPr>
              <a:lnSpc>
                <a:spcPts val="2000"/>
              </a:lnSpc>
              <a:spcBef>
                <a:spcPts val="900"/>
              </a:spcBef>
            </a:pPr>
            <a:r>
              <a:rPr sz="1400">
                <a:solidFill>
                  <a:srgbClr val="1A1F36"/>
                </a:solidFill>
              </a:rPr>
              <a:t>▸  A reproducible pipeline builds cleaned samples and airport profiles for both analysis tasks.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78040" y="1143000"/>
            <a:ext cx="46634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78040" y="1143000"/>
            <a:ext cx="4663440" cy="365760"/>
          </a:xfrm>
          <a:prstGeom prst="roundRect">
            <a:avLst>
              <a:gd name="adj" fmla="val 10000"/>
            </a:avLst>
          </a:prstGeom>
          <a:solidFill>
            <a:srgbClr val="217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18872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Raw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581912"/>
            <a:ext cx="4389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556078"/>
                </a:solidFill>
              </a:rPr>
              <a:t>Combined_Flights_2019.parquet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8040" y="2423160"/>
            <a:ext cx="46634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8040" y="2423160"/>
            <a:ext cx="4663440" cy="365760"/>
          </a:xfrm>
          <a:prstGeom prst="roundRect">
            <a:avLst>
              <a:gd name="adj" fmla="val 10000"/>
            </a:avLst>
          </a:prstGeom>
          <a:solidFill>
            <a:srgbClr val="217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2468879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Prediction sample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862072"/>
            <a:ext cx="4389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556078"/>
                </a:solidFill>
              </a:rPr>
              <a:t>flights_2019_sample.parquet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78040" y="3703320"/>
            <a:ext cx="46634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78040" y="3703320"/>
            <a:ext cx="4663440" cy="365760"/>
          </a:xfrm>
          <a:prstGeom prst="roundRect">
            <a:avLst>
              <a:gd name="adj" fmla="val 10000"/>
            </a:avLst>
          </a:prstGeom>
          <a:solidFill>
            <a:srgbClr val="217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3749039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Clustering 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142231"/>
            <a:ext cx="4389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556078"/>
                </a:solidFill>
              </a:rPr>
              <a:t>airport_profiles_2019.csv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17DBB"/>
                </a:solidFill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971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17DBB"/>
                </a:solidFill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217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071616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Key insight:  Data restricted to pre-takeoff information — well matched to the research question.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217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Sample and Variables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921240" y="164592"/>
            <a:ext cx="1920240" cy="566928"/>
          </a:xfrm>
          <a:prstGeom prst="roundRect">
            <a:avLst>
              <a:gd name="adj" fmla="val 50000"/>
            </a:avLst>
          </a:prstGeom>
          <a:solidFill>
            <a:srgbClr val="217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Section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4E8"/>
                </a:solidFill>
              </a:rPr>
              <a:t>10 % stratified sample — stratified by Month × ArrDel15 to preserve seasonality and class balance.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3520440" cy="1463040"/>
          </a:xfrm>
          <a:prstGeom prst="roundRect">
            <a:avLst>
              <a:gd name="adj" fmla="val 12000"/>
            </a:avLst>
          </a:prstGeom>
          <a:solidFill>
            <a:srgbClr val="217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18488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791,724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13432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EBFF"/>
                </a:solidFill>
              </a:rPr>
              <a:t>flights in prediction sample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1508760"/>
            <a:ext cx="3520440" cy="1463040"/>
          </a:xfrm>
          <a:prstGeom prst="roundRect">
            <a:avLst>
              <a:gd name="adj" fmla="val 12000"/>
            </a:avLst>
          </a:prstGeom>
          <a:solidFill>
            <a:srgbClr val="D4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1618488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19.29 %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256" y="2313432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EBFF"/>
                </a:solidFill>
              </a:rPr>
              <a:t>sample delay rate  (ArrDel15)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65592" y="1508760"/>
            <a:ext cx="3520440" cy="1463040"/>
          </a:xfrm>
          <a:prstGeom prst="roundRect">
            <a:avLst>
              <a:gd name="adj" fmla="val 12000"/>
            </a:avLst>
          </a:prstGeom>
          <a:solidFill>
            <a:srgbClr val="1A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1618488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373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2313432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EBFF"/>
                </a:solidFill>
              </a:rPr>
              <a:t>origin airports in sample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00400"/>
            <a:ext cx="11183112" cy="2606040"/>
          </a:xfrm>
          <a:prstGeom prst="roundRect">
            <a:avLst>
              <a:gd name="adj" fmla="val 12000"/>
            </a:avLst>
          </a:prstGeom>
          <a:solidFill>
            <a:srgbClr val="142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91840"/>
            <a:ext cx="10607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8D0FF"/>
                </a:solidFill>
              </a:rPr>
              <a:t>Core predictors  (all available before departure)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730752"/>
            <a:ext cx="10607040" cy="27432"/>
          </a:xfrm>
          <a:prstGeom prst="rect">
            <a:avLst/>
          </a:prstGeom>
          <a:solidFill>
            <a:srgbClr val="30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794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Carrier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10565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DD"/>
                </a:solidFill>
              </a:rPr>
              <a:t>  Airline identifier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3794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Origin / Destination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0565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DD"/>
                </a:solidFill>
              </a:rPr>
              <a:t>  Airport IATA codes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4531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Month / DayOfMonth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76402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DD"/>
                </a:solidFill>
              </a:rPr>
              <a:t>  Temporal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44531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Departure Block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476402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DD"/>
                </a:solidFill>
              </a:rPr>
              <a:t>  Scheduled departure window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11149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Scheduled Elapsed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223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DD"/>
                </a:solidFill>
              </a:rPr>
              <a:t>  Planned flight duration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511149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Distance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54223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DD"/>
                </a:solidFill>
              </a:rPr>
              <a:t>  Route distance in miles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217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071616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Key insight:  Large, structured sample built for fair model comparison across methods.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D4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Exploratory Analysis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9921240" y="164592"/>
            <a:ext cx="1920240" cy="566928"/>
          </a:xfrm>
          <a:prstGeom prst="roundRect">
            <a:avLst>
              <a:gd name="adj" fmla="val 50000"/>
            </a:avLst>
          </a:prstGeom>
          <a:solidFill>
            <a:srgbClr val="D4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Section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577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900"/>
              </a:spcBef>
            </a:pPr>
            <a:r>
              <a:rPr sz="1400">
                <a:solidFill>
                  <a:srgbClr val="1A1F36"/>
                </a:solidFill>
              </a:rPr>
              <a:t>▸  EDA covered: class balance, monthly seasonality, airline differences, departure-time risk, and airport heterogeneity.</a:t>
            </a:r>
          </a:p>
          <a:p>
            <a:pPr>
              <a:lnSpc>
                <a:spcPts val="2000"/>
              </a:lnSpc>
              <a:spcBef>
                <a:spcPts val="900"/>
              </a:spcBef>
            </a:pPr>
            <a:r>
              <a:rPr sz="1400">
                <a:solidFill>
                  <a:srgbClr val="1A1F36"/>
                </a:solidFill>
              </a:rPr>
              <a:t>▸  Visible timing effects → departure block included as a predictor.</a:t>
            </a:r>
          </a:p>
          <a:p>
            <a:pPr>
              <a:lnSpc>
                <a:spcPts val="2000"/>
              </a:lnSpc>
              <a:spcBef>
                <a:spcPts val="900"/>
              </a:spcBef>
            </a:pPr>
            <a:r>
              <a:rPr sz="1400">
                <a:solidFill>
                  <a:srgbClr val="1A1F36"/>
                </a:solidFill>
              </a:rPr>
              <a:t>▸  Airport heterogeneity → motivates the separate clustering analysis.</a:t>
            </a:r>
          </a:p>
          <a:p>
            <a:pPr>
              <a:lnSpc>
                <a:spcPts val="2000"/>
              </a:lnSpc>
              <a:spcBef>
                <a:spcPts val="900"/>
              </a:spcBef>
            </a:pPr>
            <a:r>
              <a:rPr sz="1400">
                <a:solidFill>
                  <a:srgbClr val="1A1F36"/>
                </a:solidFill>
              </a:rPr>
              <a:t>▸  EDA was not decorative — each pattern directly influenced modeling decisions.</a:t>
            </a:r>
          </a:p>
          <a:p>
            <a:pPr>
              <a:lnSpc>
                <a:spcPts val="2000"/>
              </a:lnSpc>
              <a:spcBef>
                <a:spcPts val="900"/>
              </a:spcBef>
            </a:pPr>
            <a:r>
              <a:rPr sz="1400">
                <a:solidFill>
                  <a:srgbClr val="1A1F36"/>
                </a:solidFill>
              </a:rPr>
              <a:t>▸  Key figures: monthly delay trend, airline delay rates, departure-block risk, and top-airport heat map.</a:t>
            </a:r>
          </a:p>
        </p:txBody>
      </p:sp>
      <p:pic>
        <p:nvPicPr>
          <p:cNvPr id="8" name="Picture 7" descr="fig01_class_balance_and_month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79880"/>
            <a:ext cx="5577840" cy="205251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D4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071616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Key insight:  EDA established that delay risk is structured — seasonal, timing-driven, and airport-dependent.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D4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Predictive Modeling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9921240" y="164592"/>
            <a:ext cx="1920240" cy="566928"/>
          </a:xfrm>
          <a:prstGeom prst="roundRect">
            <a:avLst>
              <a:gd name="adj" fmla="val 50000"/>
            </a:avLst>
          </a:prstGeom>
          <a:solidFill>
            <a:srgbClr val="D4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Section B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394960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5394960" cy="402336"/>
          </a:xfrm>
          <a:prstGeom prst="roundRect">
            <a:avLst>
              <a:gd name="adj" fmla="val 10000"/>
            </a:avLst>
          </a:prstGeom>
          <a:solidFill>
            <a:srgbClr val="D4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  Always On-Time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09343"/>
            <a:ext cx="512064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200"/>
              </a:spcBef>
            </a:pPr>
            <a:r>
              <a:rPr sz="1250" b="0" i="0">
                <a:solidFill>
                  <a:srgbClr val="1A1F36"/>
                </a:solidFill>
              </a:rPr>
              <a:t>▸  Predicts no delay for every flight.</a:t>
            </a:r>
          </a:p>
          <a:p>
            <a:pPr algn="l">
              <a:lnSpc>
                <a:spcPts val="1600"/>
              </a:lnSpc>
              <a:spcBef>
                <a:spcPts val="200"/>
              </a:spcBef>
            </a:pPr>
            <a:r>
              <a:rPr sz="1250" b="0" i="0">
                <a:solidFill>
                  <a:srgbClr val="1A1F36"/>
                </a:solidFill>
              </a:rPr>
              <a:t>▸  Sets ceiling for naive accuracy.</a:t>
            </a:r>
          </a:p>
          <a:p>
            <a:pPr algn="l">
              <a:lnSpc>
                <a:spcPts val="1600"/>
              </a:lnSpc>
              <a:spcBef>
                <a:spcPts val="200"/>
              </a:spcBef>
            </a:pPr>
            <a:r>
              <a:rPr sz="1250" b="0" i="0">
                <a:solidFill>
                  <a:srgbClr val="1A1F36"/>
                </a:solidFill>
              </a:rPr>
              <a:t>▸  ROC AUC = 0.500 by construction.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097280"/>
            <a:ext cx="5394960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097280"/>
            <a:ext cx="5394960" cy="402336"/>
          </a:xfrm>
          <a:prstGeom prst="roundRect">
            <a:avLst>
              <a:gd name="adj" fmla="val 10000"/>
            </a:avLst>
          </a:prstGeom>
          <a:solidFill>
            <a:srgbClr val="217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  LASSO Logistic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09343"/>
            <a:ext cx="512064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200"/>
              </a:spcBef>
            </a:pPr>
            <a:r>
              <a:rPr sz="1250" b="0" i="0">
                <a:solidFill>
                  <a:srgbClr val="1A1F36"/>
                </a:solidFill>
              </a:rPr>
              <a:t>▸  Sparse, interpretable linear classifier.</a:t>
            </a:r>
          </a:p>
          <a:p>
            <a:pPr algn="l">
              <a:lnSpc>
                <a:spcPts val="1600"/>
              </a:lnSpc>
              <a:spcBef>
                <a:spcPts val="200"/>
              </a:spcBef>
            </a:pPr>
            <a:r>
              <a:rPr sz="1250" b="0" i="0">
                <a:solidFill>
                  <a:srgbClr val="1A1F36"/>
                </a:solidFill>
              </a:rPr>
              <a:t>▸  L1 penalty → automatic variable selection.</a:t>
            </a:r>
          </a:p>
          <a:p>
            <a:pPr algn="l">
              <a:lnSpc>
                <a:spcPts val="1600"/>
              </a:lnSpc>
              <a:spcBef>
                <a:spcPts val="200"/>
              </a:spcBef>
            </a:pPr>
            <a:r>
              <a:rPr sz="1250" b="0" i="0">
                <a:solidFill>
                  <a:srgbClr val="1A1F36"/>
                </a:solidFill>
              </a:rPr>
              <a:t>▸  Coefficients flag risky airports &amp; windows.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20440"/>
            <a:ext cx="5394960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520440"/>
            <a:ext cx="5394960" cy="402336"/>
          </a:xfrm>
          <a:prstGeom prst="roundRect">
            <a:avLst>
              <a:gd name="adj" fmla="val 10000"/>
            </a:avLst>
          </a:prstGeom>
          <a:solidFill>
            <a:srgbClr val="1A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  Random 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032504"/>
            <a:ext cx="512064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200"/>
              </a:spcBef>
            </a:pPr>
            <a:r>
              <a:rPr sz="1250" b="0" i="0">
                <a:solidFill>
                  <a:srgbClr val="1A1F36"/>
                </a:solidFill>
              </a:rPr>
              <a:t>▸  Ensemble of decision trees.</a:t>
            </a:r>
          </a:p>
          <a:p>
            <a:pPr algn="l">
              <a:lnSpc>
                <a:spcPts val="1600"/>
              </a:lnSpc>
              <a:spcBef>
                <a:spcPts val="200"/>
              </a:spcBef>
            </a:pPr>
            <a:r>
              <a:rPr sz="1250" b="0" i="0">
                <a:solidFill>
                  <a:srgbClr val="1A1F36"/>
                </a:solidFill>
              </a:rPr>
              <a:t>▸  Captures nonlinearities &amp; interactions.</a:t>
            </a:r>
          </a:p>
          <a:p>
            <a:pPr algn="l">
              <a:lnSpc>
                <a:spcPts val="1600"/>
              </a:lnSpc>
              <a:spcBef>
                <a:spcPts val="200"/>
              </a:spcBef>
            </a:pPr>
            <a:r>
              <a:rPr sz="1250" b="0" i="0">
                <a:solidFill>
                  <a:srgbClr val="1A1F36"/>
                </a:solidFill>
              </a:rPr>
              <a:t>▸  Tuned via random search + cross-validation.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3520440"/>
            <a:ext cx="5394960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3520440"/>
            <a:ext cx="5394960" cy="402336"/>
          </a:xfrm>
          <a:prstGeom prst="roundRect">
            <a:avLst>
              <a:gd name="adj" fmla="val 10000"/>
            </a:avLst>
          </a:prstGeom>
          <a:solidFill>
            <a:srgbClr val="7B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  Extra Trees  (robustness)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032504"/>
            <a:ext cx="512064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200"/>
              </a:spcBef>
            </a:pPr>
            <a:r>
              <a:rPr sz="1250" b="0" i="0">
                <a:solidFill>
                  <a:srgbClr val="1A1F36"/>
                </a:solidFill>
              </a:rPr>
              <a:t>▸  Randomized splitting variant of RF.</a:t>
            </a:r>
          </a:p>
          <a:p>
            <a:pPr algn="l">
              <a:lnSpc>
                <a:spcPts val="1600"/>
              </a:lnSpc>
              <a:spcBef>
                <a:spcPts val="200"/>
              </a:spcBef>
            </a:pPr>
            <a:r>
              <a:rPr sz="1250" b="0" i="0">
                <a:solidFill>
                  <a:srgbClr val="1A1F36"/>
                </a:solidFill>
              </a:rPr>
              <a:t>▸  Additional nonlinear robustness check.</a:t>
            </a:r>
          </a:p>
          <a:p>
            <a:pPr algn="l">
              <a:lnSpc>
                <a:spcPts val="1600"/>
              </a:lnSpc>
              <a:spcBef>
                <a:spcPts val="200"/>
              </a:spcBef>
            </a:pPr>
            <a:r>
              <a:rPr sz="1250" b="0" i="0">
                <a:solidFill>
                  <a:srgbClr val="1A1F36"/>
                </a:solidFill>
              </a:rPr>
              <a:t>▸  Same evaluation protocol as RF.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D4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071616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Key insight:  All models evaluated on the same train / validation / test split and the same metrics.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D4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Why LASSO and Random Forest?</a:t>
            </a:r>
          </a:p>
        </p:txBody>
      </p:sp>
      <p:sp>
        <p:nvSpPr>
          <p:cNvPr id="6" name="Rectangle 5"/>
          <p:cNvSpPr/>
          <p:nvPr/>
        </p:nvSpPr>
        <p:spPr>
          <a:xfrm>
            <a:off x="9921240" y="164592"/>
            <a:ext cx="1920240" cy="566928"/>
          </a:xfrm>
          <a:prstGeom prst="roundRect">
            <a:avLst>
              <a:gd name="adj" fmla="val 50000"/>
            </a:avLst>
          </a:prstGeom>
          <a:solidFill>
            <a:srgbClr val="D4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Section B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097280"/>
            <a:ext cx="22860" cy="4663440"/>
          </a:xfrm>
          <a:prstGeom prst="rect">
            <a:avLst/>
          </a:prstGeom>
          <a:solidFill>
            <a:srgbClr val="D0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17DBB"/>
                </a:solidFill>
              </a:rPr>
              <a:t>LASSO Logistic Regression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5303520" cy="36576"/>
          </a:xfrm>
          <a:prstGeom prst="rect">
            <a:avLst/>
          </a:prstGeom>
          <a:solidFill>
            <a:srgbClr val="217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5303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1000"/>
              </a:spcBef>
            </a:pPr>
            <a:r>
              <a:rPr sz="1350">
                <a:solidFill>
                  <a:srgbClr val="1A1F36"/>
                </a:solidFill>
              </a:rPr>
              <a:t>▸  Interpretable: non-zero coefficients directly name risky airports and departure windows.</a:t>
            </a:r>
          </a:p>
          <a:p>
            <a:pPr>
              <a:lnSpc>
                <a:spcPts val="2000"/>
              </a:lnSpc>
              <a:spcBef>
                <a:spcPts val="1000"/>
              </a:spcBef>
            </a:pPr>
            <a:r>
              <a:rPr sz="1350">
                <a:solidFill>
                  <a:srgbClr val="1A1F36"/>
                </a:solidFill>
              </a:rPr>
              <a:t>▸  Sparse: L1 regularization reduces noise from the long airport tail.</a:t>
            </a:r>
          </a:p>
          <a:p>
            <a:pPr>
              <a:lnSpc>
                <a:spcPts val="2000"/>
              </a:lnSpc>
              <a:spcBef>
                <a:spcPts val="1000"/>
              </a:spcBef>
            </a:pPr>
            <a:r>
              <a:rPr sz="1350">
                <a:solidFill>
                  <a:srgbClr val="1A1F36"/>
                </a:solidFill>
              </a:rPr>
              <a:t>▸  Honest baseline: if simple features work, LASSO shows it clearly.</a:t>
            </a:r>
          </a:p>
          <a:p>
            <a:pPr>
              <a:lnSpc>
                <a:spcPts val="2000"/>
              </a:lnSpc>
              <a:spcBef>
                <a:spcPts val="1000"/>
              </a:spcBef>
            </a:pPr>
            <a:r>
              <a:rPr sz="1350">
                <a:solidFill>
                  <a:srgbClr val="1A1F36"/>
                </a:solidFill>
              </a:rPr>
              <a:t>▸  Output: 5 highest-risk destinations and origins identified.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14300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4621A"/>
                </a:solidFill>
              </a:rPr>
              <a:t>Random Forest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5577840" cy="36576"/>
          </a:xfrm>
          <a:prstGeom prst="rect">
            <a:avLst/>
          </a:prstGeom>
          <a:solidFill>
            <a:srgbClr val="D4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783080"/>
            <a:ext cx="5577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1000"/>
              </a:spcBef>
            </a:pPr>
            <a:r>
              <a:rPr sz="1350">
                <a:solidFill>
                  <a:srgbClr val="1A1F36"/>
                </a:solidFill>
              </a:rPr>
              <a:t>▸  Nonlinear: captures threshold effects and interactions LASSO cannot.</a:t>
            </a:r>
          </a:p>
          <a:p>
            <a:pPr>
              <a:lnSpc>
                <a:spcPts val="2000"/>
              </a:lnSpc>
              <a:spcBef>
                <a:spcPts val="1000"/>
              </a:spcBef>
            </a:pPr>
            <a:r>
              <a:rPr sz="1350">
                <a:solidFill>
                  <a:srgbClr val="1A1F36"/>
                </a:solidFill>
              </a:rPr>
              <a:t>▸  Robust: ensemble averaging reduces variance from individual trees.</a:t>
            </a:r>
          </a:p>
          <a:p>
            <a:pPr>
              <a:lnSpc>
                <a:spcPts val="2000"/>
              </a:lnSpc>
              <a:spcBef>
                <a:spcPts val="1000"/>
              </a:spcBef>
            </a:pPr>
            <a:r>
              <a:rPr sz="1350">
                <a:solidFill>
                  <a:srgbClr val="1A1F36"/>
                </a:solidFill>
              </a:rPr>
              <a:t>▸  Group importance: highlights which feature categories matter most.</a:t>
            </a:r>
          </a:p>
          <a:p>
            <a:pPr>
              <a:lnSpc>
                <a:spcPts val="2000"/>
              </a:lnSpc>
              <a:spcBef>
                <a:spcPts val="1000"/>
              </a:spcBef>
            </a:pPr>
            <a:r>
              <a:rPr sz="1350">
                <a:solidFill>
                  <a:srgbClr val="1A1F36"/>
                </a:solidFill>
              </a:rPr>
              <a:t>▸  Output: departure hour, day-of-month, distance lead feature groups.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D4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071616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Key insight:  Method choice is driven by the question — not by a desire to stack unnecessary algorithms.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D4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Airport Segmentation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9921240" y="164592"/>
            <a:ext cx="1920240" cy="566928"/>
          </a:xfrm>
          <a:prstGeom prst="roundRect">
            <a:avLst>
              <a:gd name="adj" fmla="val 50000"/>
            </a:avLst>
          </a:prstGeom>
          <a:solidFill>
            <a:srgbClr val="D4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Section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577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900"/>
              </a:spcBef>
            </a:pPr>
            <a:r>
              <a:rPr sz="1400">
                <a:solidFill>
                  <a:srgbClr val="1A1F36"/>
                </a:solidFill>
              </a:rPr>
              <a:t>▸  Airport profiles aggregate: delay rate, mean &amp; upper-tail delay, carrier diversity, destination diversity, evening traffic share, and flights per day.</a:t>
            </a:r>
          </a:p>
          <a:p>
            <a:pPr>
              <a:lnSpc>
                <a:spcPts val="2000"/>
              </a:lnSpc>
              <a:spcBef>
                <a:spcPts val="900"/>
              </a:spcBef>
            </a:pPr>
            <a:r>
              <a:rPr sz="1400">
                <a:solidFill>
                  <a:srgbClr val="1A1F36"/>
                </a:solidFill>
              </a:rPr>
              <a:t>▸  K-means tested for k = 2 through k = 6.</a:t>
            </a:r>
          </a:p>
          <a:p>
            <a:pPr>
              <a:lnSpc>
                <a:spcPts val="2000"/>
              </a:lnSpc>
              <a:spcBef>
                <a:spcPts val="900"/>
              </a:spcBef>
            </a:pPr>
            <a:r>
              <a:rPr sz="1400">
                <a:solidFill>
                  <a:srgbClr val="1A1F36"/>
                </a:solidFill>
              </a:rPr>
              <a:t>▸  Airports with &lt; 1,000 annual flights excluded to avoid micro-cluster instability.</a:t>
            </a:r>
          </a:p>
          <a:p>
            <a:pPr>
              <a:lnSpc>
                <a:spcPts val="2000"/>
              </a:lnSpc>
              <a:spcBef>
                <a:spcPts val="900"/>
              </a:spcBef>
            </a:pPr>
            <a:r>
              <a:rPr sz="1400">
                <a:solidFill>
                  <a:srgbClr val="1A1F36"/>
                </a:solidFill>
              </a:rPr>
              <a:t>▸  k = 3 chosen over silhouette-optimal k = 2 for interpretability.</a:t>
            </a:r>
          </a:p>
          <a:p>
            <a:pPr>
              <a:lnSpc>
                <a:spcPts val="2000"/>
              </a:lnSpc>
              <a:spcBef>
                <a:spcPts val="900"/>
              </a:spcBef>
            </a:pPr>
            <a:r>
              <a:rPr sz="1400">
                <a:solidFill>
                  <a:srgbClr val="1A1F36"/>
                </a:solidFill>
              </a:rPr>
              <a:t>▸  Final clusters: Congested Hubs · Small High-Volatility · Lower-Risk Diversified.</a:t>
            </a:r>
          </a:p>
        </p:txBody>
      </p:sp>
      <p:pic>
        <p:nvPicPr>
          <p:cNvPr id="8" name="Picture 7" descr="fig10_cluster_diagnostics_and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90722"/>
            <a:ext cx="5577840" cy="203083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D4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071616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Key insight:  Clustering used as an interpretive tool — not a purely mechanical optimization exercise.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1A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Key Exploratory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9921240" y="164592"/>
            <a:ext cx="1920240" cy="566928"/>
          </a:xfrm>
          <a:prstGeom prst="roundRect">
            <a:avLst>
              <a:gd name="adj" fmla="val 50000"/>
            </a:avLst>
          </a:prstGeom>
          <a:solidFill>
            <a:srgbClr val="1A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Section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212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900"/>
              </a:spcBef>
            </a:pPr>
            <a:r>
              <a:rPr sz="1400">
                <a:solidFill>
                  <a:srgbClr val="1A1F36"/>
                </a:solidFill>
              </a:rPr>
              <a:t>▸  June → highest-delay month;  September → lowest.</a:t>
            </a:r>
          </a:p>
          <a:p>
            <a:pPr>
              <a:lnSpc>
                <a:spcPts val="2000"/>
              </a:lnSpc>
              <a:spcBef>
                <a:spcPts val="900"/>
              </a:spcBef>
            </a:pPr>
            <a:r>
              <a:rPr sz="1400">
                <a:solidFill>
                  <a:srgbClr val="1A1F36"/>
                </a:solidFill>
              </a:rPr>
              <a:t>▸  Departure block 19:00–19:59 is the riskiest window; overnight departures are safest.</a:t>
            </a:r>
          </a:p>
          <a:p>
            <a:pPr>
              <a:lnSpc>
                <a:spcPts val="2000"/>
              </a:lnSpc>
              <a:spcBef>
                <a:spcPts val="900"/>
              </a:spcBef>
            </a:pPr>
            <a:r>
              <a:rPr sz="1400">
                <a:solidFill>
                  <a:srgbClr val="1A1F36"/>
                </a:solidFill>
              </a:rPr>
              <a:t>▸  Congested hubs — EWR, ORD, LGA — dominate the high-risk airport list.</a:t>
            </a:r>
          </a:p>
          <a:p>
            <a:pPr>
              <a:lnSpc>
                <a:spcPts val="2000"/>
              </a:lnSpc>
              <a:spcBef>
                <a:spcPts val="900"/>
              </a:spcBef>
            </a:pPr>
            <a:r>
              <a:rPr sz="1400">
                <a:solidFill>
                  <a:srgbClr val="1A1F36"/>
                </a:solidFill>
              </a:rPr>
              <a:t>▸  Both timing and airport context carry signal into the predictive models.</a:t>
            </a:r>
          </a:p>
        </p:txBody>
      </p:sp>
      <p:pic>
        <p:nvPicPr>
          <p:cNvPr id="8" name="Picture 7" descr="fig04_top_airport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88525"/>
            <a:ext cx="5943600" cy="38352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071616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Key insight:  Timing and airport context are the dominant themes — structured, not arbitrary.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1A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Predictive Model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921240" y="164592"/>
            <a:ext cx="1920240" cy="566928"/>
          </a:xfrm>
          <a:prstGeom prst="roundRect">
            <a:avLst>
              <a:gd name="adj" fmla="val 50000"/>
            </a:avLst>
          </a:prstGeom>
          <a:solidFill>
            <a:srgbClr val="1A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Section C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623560" cy="47548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15214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6312" y="115214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ROC 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115214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 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115214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Top-10 % Lift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572768"/>
            <a:ext cx="5623560" cy="621792"/>
          </a:xfrm>
          <a:prstGeom prst="rect">
            <a:avLst/>
          </a:prstGeom>
          <a:solidFill>
            <a:srgbClr val="E8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664208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F36"/>
                </a:solidFill>
              </a:rPr>
              <a:t>Always On-Time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1664208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F36"/>
                </a:solidFill>
              </a:rPr>
              <a:t>0.500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1664208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F36"/>
                </a:solidFill>
              </a:rPr>
              <a:t>0.193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166420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F36"/>
                </a:solidFill>
              </a:rPr>
              <a:t>1.00×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31136"/>
            <a:ext cx="56235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2322576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F36"/>
                </a:solidFill>
              </a:rPr>
              <a:t>LASSO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96312" y="232257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F36"/>
                </a:solidFill>
              </a:rPr>
              <a:t>0.636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2322576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F36"/>
                </a:solidFill>
              </a:rPr>
              <a:t>0.286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0872" y="2322576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F36"/>
                </a:solidFill>
              </a:rPr>
              <a:t>1.74×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89504"/>
            <a:ext cx="5623560" cy="621792"/>
          </a:xfrm>
          <a:prstGeom prst="rect">
            <a:avLst/>
          </a:prstGeom>
          <a:solidFill>
            <a:srgbClr val="C8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2980944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F36"/>
                </a:solidFill>
              </a:rPr>
              <a:t>Random Forest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96312" y="2980944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F36"/>
                </a:solidFill>
              </a:rPr>
              <a:t>0.671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9312" y="2980944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F36"/>
                </a:solidFill>
              </a:rPr>
              <a:t>0.343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0872" y="2980944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F36"/>
                </a:solidFill>
              </a:rPr>
              <a:t>2.21×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547872"/>
            <a:ext cx="56235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63931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F36"/>
                </a:solidFill>
              </a:rPr>
              <a:t>Extra Trees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96312" y="3639312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F36"/>
                </a:solidFill>
              </a:rPr>
              <a:t>0.666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9312" y="363931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F36"/>
                </a:solidFill>
              </a:rPr>
              <a:t>0.338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0872" y="363931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F36"/>
                </a:solidFill>
              </a:rPr>
              <a:t>2.17×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57800" y="2999232"/>
            <a:ext cx="685800" cy="384048"/>
          </a:xfrm>
          <a:prstGeom prst="roundRect">
            <a:avLst>
              <a:gd name="adj" fmla="val 30000"/>
            </a:avLst>
          </a:prstGeom>
          <a:solidFill>
            <a:srgbClr val="1A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57800" y="3017520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BEST</a:t>
            </a:r>
          </a:p>
        </p:txBody>
      </p:sp>
      <p:pic>
        <p:nvPicPr>
          <p:cNvPr id="34" name="Picture 33" descr="fig08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610928"/>
            <a:ext cx="5577840" cy="1590422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071616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Key insight:  Random Forest best overall; both trained models materially outperform the naive baseline.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1A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Interpretable Feature Signals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9921240" y="164592"/>
            <a:ext cx="1920240" cy="566928"/>
          </a:xfrm>
          <a:prstGeom prst="roundRect">
            <a:avLst>
              <a:gd name="adj" fmla="val 50000"/>
            </a:avLst>
          </a:prstGeom>
          <a:solidFill>
            <a:srgbClr val="1A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Section C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097280"/>
            <a:ext cx="22860" cy="4663440"/>
          </a:xfrm>
          <a:prstGeom prst="rect">
            <a:avLst/>
          </a:prstGeom>
          <a:solidFill>
            <a:srgbClr val="D0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17DBB"/>
                </a:solidFill>
              </a:rPr>
              <a:t>LASSO Coefficients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72768"/>
            <a:ext cx="5486400" cy="36576"/>
          </a:xfrm>
          <a:prstGeom prst="rect">
            <a:avLst/>
          </a:prstGeom>
          <a:solidFill>
            <a:srgbClr val="217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800"/>
              </a:spcBef>
            </a:pPr>
            <a:r>
              <a:rPr sz="1350">
                <a:solidFill>
                  <a:srgbClr val="1A1F36"/>
                </a:solidFill>
              </a:rPr>
              <a:t>▸  + Risk:  destinations / origins  EWR, LGA, SFO</a:t>
            </a:r>
          </a:p>
          <a:p>
            <a:pPr>
              <a:lnSpc>
                <a:spcPts val="2000"/>
              </a:lnSpc>
              <a:spcBef>
                <a:spcPts val="800"/>
              </a:spcBef>
            </a:pPr>
            <a:r>
              <a:rPr sz="1350">
                <a:solidFill>
                  <a:srgbClr val="1A1F36"/>
                </a:solidFill>
              </a:rPr>
              <a:t>▸  − Risk:  low-traffic airports, overnight departure blocks</a:t>
            </a:r>
          </a:p>
        </p:txBody>
      </p:sp>
      <p:pic>
        <p:nvPicPr>
          <p:cNvPr id="11" name="Picture 10" descr="fig06_lasso_coeffic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853" y="3566160"/>
            <a:ext cx="3087653" cy="2148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1097280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621A"/>
                </a:solidFill>
              </a:rPr>
              <a:t>Random Forest Group Importance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72768"/>
            <a:ext cx="5486400" cy="36576"/>
          </a:xfrm>
          <a:prstGeom prst="rect">
            <a:avLst/>
          </a:prstGeom>
          <a:solidFill>
            <a:srgbClr val="D4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6916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800"/>
              </a:spcBef>
            </a:pPr>
            <a:r>
              <a:rPr sz="1350">
                <a:solidFill>
                  <a:srgbClr val="1A1F36"/>
                </a:solidFill>
              </a:rPr>
              <a:t>▸  Top groups: departure hour, day-of-month, distance, scheduled elapsed time, month.</a:t>
            </a:r>
          </a:p>
          <a:p>
            <a:pPr>
              <a:lnSpc>
                <a:spcPts val="2000"/>
              </a:lnSpc>
              <a:spcBef>
                <a:spcPts val="800"/>
              </a:spcBef>
            </a:pPr>
            <a:r>
              <a:rPr sz="1350">
                <a:solidFill>
                  <a:srgbClr val="1A1F36"/>
                </a:solidFill>
              </a:rPr>
              <a:t>▸  Time-based features dominate; airport IDs add incremental signal.</a:t>
            </a:r>
          </a:p>
        </p:txBody>
      </p:sp>
      <p:pic>
        <p:nvPicPr>
          <p:cNvPr id="15" name="Picture 14" descr="fig07_rf_group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1711" y="3566160"/>
            <a:ext cx="3550257" cy="21488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071616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Key insight:  Delay risk reflects specific airport effects and broader timing-related scheduling structure.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1A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Airport Segments  (k = 3)</a:t>
            </a:r>
          </a:p>
        </p:txBody>
      </p:sp>
      <p:sp>
        <p:nvSpPr>
          <p:cNvPr id="6" name="Rectangle 5"/>
          <p:cNvSpPr/>
          <p:nvPr/>
        </p:nvSpPr>
        <p:spPr>
          <a:xfrm>
            <a:off x="9921240" y="164592"/>
            <a:ext cx="1920240" cy="566928"/>
          </a:xfrm>
          <a:prstGeom prst="roundRect">
            <a:avLst>
              <a:gd name="adj" fmla="val 50000"/>
            </a:avLst>
          </a:prstGeom>
          <a:solidFill>
            <a:srgbClr val="1A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Section C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566160" cy="4572000"/>
          </a:xfrm>
          <a:prstGeom prst="roundRect">
            <a:avLst>
              <a:gd name="adj" fmla="val 12000"/>
            </a:avLst>
          </a:prstGeom>
          <a:solidFill>
            <a:srgbClr val="142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3566160" cy="502920"/>
          </a:xfrm>
          <a:prstGeom prst="roundRect">
            <a:avLst>
              <a:gd name="adj" fmla="val 12000"/>
            </a:avLst>
          </a:prstGeom>
          <a:solidFill>
            <a:srgbClr val="217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152144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Congested Hubs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719072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CFF"/>
                </a:solidFill>
              </a:rPr>
              <a:t>43 airports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286000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CFF"/>
                </a:solidFill>
              </a:rPr>
              <a:t>Avg delay rate: 19.4 %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852928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CFF"/>
                </a:solidFill>
              </a:rPr>
              <a:t>~367 flights /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986783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17DBB"/>
                </a:solidFill>
              </a:rPr>
              <a:t>EWR · ORD · LGA · DFW · DEN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097280"/>
            <a:ext cx="3566160" cy="4572000"/>
          </a:xfrm>
          <a:prstGeom prst="roundRect">
            <a:avLst>
              <a:gd name="adj" fmla="val 12000"/>
            </a:avLst>
          </a:prstGeom>
          <a:solidFill>
            <a:srgbClr val="142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097280"/>
            <a:ext cx="3566160" cy="502920"/>
          </a:xfrm>
          <a:prstGeom prst="roundRect">
            <a:avLst>
              <a:gd name="adj" fmla="val 12000"/>
            </a:avLst>
          </a:prstGeom>
          <a:solidFill>
            <a:srgbClr val="D4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1152144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Small High-Volatility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1719072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CFF"/>
                </a:solidFill>
              </a:rPr>
              <a:t>67 airports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286000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CFF"/>
                </a:solidFill>
              </a:rPr>
              <a:t>Avg delay rate: 21.9 %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2852928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CFF"/>
                </a:solidFill>
              </a:rPr>
              <a:t>~16 flights / 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3986783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D4621A"/>
                </a:solidFill>
              </a:rPr>
              <a:t>ACK · ASE · EGE · HDN · COU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097280"/>
            <a:ext cx="3566160" cy="4572000"/>
          </a:xfrm>
          <a:prstGeom prst="roundRect">
            <a:avLst>
              <a:gd name="adj" fmla="val 12000"/>
            </a:avLst>
          </a:prstGeom>
          <a:solidFill>
            <a:srgbClr val="142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97280"/>
            <a:ext cx="3566160" cy="502920"/>
          </a:xfrm>
          <a:prstGeom prst="roundRect">
            <a:avLst>
              <a:gd name="adj" fmla="val 12000"/>
            </a:avLst>
          </a:prstGeom>
          <a:solidFill>
            <a:srgbClr val="1A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1152144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Lower-Risk Diversified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1719072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CFF"/>
                </a:solidFill>
              </a:rPr>
              <a:t>168 airports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2286000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CFF"/>
                </a:solidFill>
              </a:rPr>
              <a:t>Avg delay rate: 16.2 %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2852928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CFF"/>
                </a:solidFill>
              </a:rPr>
              <a:t>~28 flights / 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3986783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9E84"/>
                </a:solidFill>
              </a:rPr>
              <a:t>Broad mix of mid-size regional airports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071616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Key insight:  Delay risk is embedded in operating environment — not only in individual flights.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1A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Limitations and 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921240" y="164592"/>
            <a:ext cx="1920240" cy="566928"/>
          </a:xfrm>
          <a:prstGeom prst="roundRect">
            <a:avLst>
              <a:gd name="adj" fmla="val 50000"/>
            </a:avLst>
          </a:prstGeom>
          <a:solidFill>
            <a:srgbClr val="1A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Section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F36"/>
                </a:solidFill>
              </a:rPr>
              <a:t>Limitations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5303520" cy="36576"/>
          </a:xfrm>
          <a:prstGeom prst="rect">
            <a:avLst/>
          </a:prstGeom>
          <a:solidFill>
            <a:srgbClr val="D0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303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900"/>
              </a:spcBef>
            </a:pPr>
            <a:r>
              <a:rPr sz="1350">
                <a:solidFill>
                  <a:srgbClr val="1A1F36"/>
                </a:solidFill>
              </a:rPr>
              <a:t>▸  No weather data, maintenance shocks, or ATC constraints observed.</a:t>
            </a:r>
          </a:p>
          <a:p>
            <a:pPr>
              <a:lnSpc>
                <a:spcPts val="2100"/>
              </a:lnSpc>
              <a:spcBef>
                <a:spcPts val="900"/>
              </a:spcBef>
            </a:pPr>
            <a:r>
              <a:rPr sz="1350">
                <a:solidFill>
                  <a:srgbClr val="1A1F36"/>
                </a:solidFill>
              </a:rPr>
              <a:t>▸  Upstream network spillovers (rotational delays) not captured.</a:t>
            </a:r>
          </a:p>
          <a:p>
            <a:pPr>
              <a:lnSpc>
                <a:spcPts val="2100"/>
              </a:lnSpc>
              <a:spcBef>
                <a:spcPts val="900"/>
              </a:spcBef>
            </a:pPr>
            <a:r>
              <a:rPr sz="1350">
                <a:solidFill>
                  <a:srgbClr val="1A1F36"/>
                </a:solidFill>
              </a:rPr>
              <a:t>▸  Single-year analysis — temporal generalization should be cautious.</a:t>
            </a:r>
          </a:p>
          <a:p>
            <a:pPr>
              <a:lnSpc>
                <a:spcPts val="2100"/>
              </a:lnSpc>
              <a:spcBef>
                <a:spcPts val="900"/>
              </a:spcBef>
            </a:pPr>
            <a:r>
              <a:rPr sz="1350">
                <a:solidFill>
                  <a:srgbClr val="1A1F36"/>
                </a:solidFill>
              </a:rPr>
              <a:t>▸  AUC is moderate by design: the hardest delay drivers are unobserved.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97280"/>
            <a:ext cx="5577840" cy="4617720"/>
          </a:xfrm>
          <a:prstGeom prst="roundRect">
            <a:avLst>
              <a:gd name="adj" fmla="val 12000"/>
            </a:avLst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07008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9E84"/>
                </a:solidFill>
              </a:rPr>
              <a:t>What We Delivered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709928"/>
            <a:ext cx="5166360" cy="27432"/>
          </a:xfrm>
          <a:prstGeom prst="rect">
            <a:avLst/>
          </a:prstGeom>
          <a:solidFill>
            <a:srgbClr val="1A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83080"/>
            <a:ext cx="51663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900"/>
              </a:spcBef>
            </a:pPr>
            <a:r>
              <a:rPr sz="1300">
                <a:solidFill>
                  <a:srgbClr val="C0DCFF"/>
                </a:solidFill>
              </a:rPr>
              <a:t>▸  Pre-departure delay risk is real and rankable — Random Forest ROC AUC 0.671, top-decile lift 2.21×.</a:t>
            </a:r>
          </a:p>
          <a:p>
            <a:pPr>
              <a:lnSpc>
                <a:spcPts val="2000"/>
              </a:lnSpc>
              <a:spcBef>
                <a:spcPts val="900"/>
              </a:spcBef>
            </a:pPr>
            <a:r>
              <a:rPr sz="1300">
                <a:solidFill>
                  <a:srgbClr val="C0DCFF"/>
                </a:solidFill>
              </a:rPr>
              <a:t>▸  Airport operating environment shapes delay risk — 3 interpretable segments identified.</a:t>
            </a:r>
          </a:p>
          <a:p>
            <a:pPr>
              <a:lnSpc>
                <a:spcPts val="2000"/>
              </a:lnSpc>
              <a:spcBef>
                <a:spcPts val="900"/>
              </a:spcBef>
            </a:pPr>
            <a:r>
              <a:rPr sz="1300">
                <a:solidFill>
                  <a:srgbClr val="C0DCFF"/>
                </a:solidFill>
              </a:rPr>
              <a:t>▸  Reproducible, documented pipeline with all figures and tables ready for submission.</a:t>
            </a:r>
          </a:p>
          <a:p>
            <a:pPr>
              <a:lnSpc>
                <a:spcPts val="2000"/>
              </a:lnSpc>
              <a:spcBef>
                <a:spcPts val="900"/>
              </a:spcBef>
            </a:pPr>
            <a:r>
              <a:rPr sz="1300">
                <a:solidFill>
                  <a:srgbClr val="C0DCFF"/>
                </a:solidFill>
              </a:rPr>
              <a:t>▸  Honest result: moderate performance reflects structural data limits, not a modeling failure.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53328" y="1097280"/>
            <a:ext cx="22860" cy="4663440"/>
          </a:xfrm>
          <a:prstGeom prst="rect">
            <a:avLst/>
          </a:prstGeom>
          <a:solidFill>
            <a:srgbClr val="D0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071616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Key insight:  Pre-departure data contain real signal — moderate performance is the honest result given structural data limits.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